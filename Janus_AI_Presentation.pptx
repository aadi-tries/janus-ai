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709"/>
        </a:solidFill>
        <a:effectLst/>
      </p:bgPr>
    </p:bg>
    <p:spTree>
      <p:nvGrpSpPr>
        <p:cNvPr id="1" name=""/>
        <p:cNvGrpSpPr/>
        <p:nvPr/>
      </p:nvGrpSpPr>
      <p:grpSpPr/>
      <p:sp>
        <p:nvSpPr>
          <p:cNvPr id="2" name="TextBox 1"/>
          <p:cNvSpPr txBox="1"/>
          <p:nvPr/>
        </p:nvSpPr>
        <p:spPr>
          <a:xfrm>
            <a:off x="914400" y="1828800"/>
            <a:ext cx="10362895" cy="3657600"/>
          </a:xfrm>
          <a:prstGeom prst="rect">
            <a:avLst/>
          </a:prstGeom>
          <a:noFill/>
        </p:spPr>
        <p:txBody>
          <a:bodyPr wrap="square">
            <a:spAutoFit/>
          </a:bodyPr>
          <a:lstStyle/>
          <a:p>
            <a:pPr algn="ctr">
              <a:defRPr sz="6800" b="1">
                <a:solidFill>
                  <a:srgbClr val="EF4444"/>
                </a:solidFill>
                <a:latin typeface="Trebuchet MS"/>
              </a:defRPr>
            </a:pPr>
            <a:r>
              <a:t>JANUS AI</a:t>
            </a:r>
          </a:p>
          <a:p>
            <a:pPr algn="ctr">
              <a:spcBef>
                <a:spcPts val="2000"/>
              </a:spcBef>
              <a:defRPr sz="2400" b="1">
                <a:solidFill>
                  <a:srgbClr val="FFFFFF"/>
                </a:solidFill>
                <a:latin typeface="Arial"/>
              </a:defRPr>
            </a:pPr>
            <a:r>
              <a:t>Stress Testing Strategic Decisions in an Adversarial Crucible</a:t>
            </a:r>
          </a:p>
          <a:p>
            <a:pPr algn="ctr">
              <a:spcBef>
                <a:spcPts val="1500"/>
              </a:spcBef>
              <a:defRPr sz="1600" i="1">
                <a:solidFill>
                  <a:srgbClr val="C8C8CD"/>
                </a:solidFill>
                <a:latin typeface="Arial"/>
              </a:defRPr>
            </a:pPr>
            <a:r>
              <a:t>Expose your strategic blind spots before reality does.</a:t>
            </a:r>
          </a:p>
          <a:p>
            <a:pPr algn="ctr">
              <a:spcBef>
                <a:spcPts val="3000"/>
              </a:spcBef>
              <a:defRPr sz="1400" b="1">
                <a:solidFill>
                  <a:srgbClr val="9333EA"/>
                </a:solidFill>
                <a:latin typeface="Arial"/>
              </a:defRPr>
            </a:pPr>
            <a:r>
              <a:t>Presented by Janus Strategic Advisory 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709"/>
        </a:solidFill>
        <a:effectLst/>
      </p:bgPr>
    </p:bg>
    <p:spTree>
      <p:nvGrpSpPr>
        <p:cNvPr id="1" name=""/>
        <p:cNvGrpSpPr/>
        <p:nvPr/>
      </p:nvGrpSpPr>
      <p:grpSpPr/>
      <p:sp>
        <p:nvSpPr>
          <p:cNvPr id="2" name="TextBox 1"/>
          <p:cNvSpPr txBox="1"/>
          <p:nvPr/>
        </p:nvSpPr>
        <p:spPr>
          <a:xfrm>
            <a:off x="914400" y="457200"/>
            <a:ext cx="10362895" cy="914400"/>
          </a:xfrm>
          <a:prstGeom prst="rect">
            <a:avLst/>
          </a:prstGeom>
          <a:noFill/>
        </p:spPr>
        <p:txBody>
          <a:bodyPr wrap="square">
            <a:spAutoFit/>
          </a:bodyPr>
          <a:lstStyle/>
          <a:p>
            <a:pPr>
              <a:defRPr sz="3800" b="1">
                <a:solidFill>
                  <a:srgbClr val="9333EA"/>
                </a:solidFill>
                <a:latin typeface="Trebuchet MS"/>
              </a:defRPr>
            </a:pPr>
            <a:r>
              <a:t>Why We Built Janus</a:t>
            </a:r>
          </a:p>
        </p:txBody>
      </p:sp>
      <p:sp>
        <p:nvSpPr>
          <p:cNvPr id="3" name="TextBox 2"/>
          <p:cNvSpPr txBox="1"/>
          <p:nvPr/>
        </p:nvSpPr>
        <p:spPr>
          <a:xfrm>
            <a:off x="914400" y="1463040"/>
            <a:ext cx="10362895" cy="4754880"/>
          </a:xfrm>
          <a:prstGeom prst="rect">
            <a:avLst/>
          </a:prstGeom>
          <a:noFill/>
        </p:spPr>
        <p:txBody>
          <a:bodyPr wrap="square">
            <a:spAutoFit/>
          </a:bodyPr>
          <a:lstStyle/>
          <a:p>
            <a:pPr>
              <a:defRPr sz="1800" b="1">
                <a:solidFill>
                  <a:srgbClr val="EF4444"/>
                </a:solidFill>
                <a:latin typeface="Arial"/>
              </a:defRPr>
            </a:pPr>
            <a:r>
              <a:t>•  Cognitive &amp; Confirmation Bias: </a:t>
            </a:r>
          </a:p>
          <a:p>
            <a:pPr>
              <a:spcBef>
                <a:spcPts val="400"/>
              </a:spcBef>
              <a:defRPr sz="1400">
                <a:solidFill>
                  <a:srgbClr val="C8C8CD"/>
                </a:solidFill>
                <a:latin typeface="Arial"/>
              </a:defRPr>
            </a:pPr>
            <a:r>
              <a:t>Decision-makers naturally suffer from confirmation bias, looking only for signals that validate their strategy while ignoring fatal vulnerabilities. Studies show that over 90% of business failures stem from unchallenged assumptions during planning phases.</a:t>
            </a:r>
          </a:p>
          <a:p>
            <a:pPr>
              <a:spcBef>
                <a:spcPts val="1500"/>
              </a:spcBef>
              <a:defRPr sz="1800" b="1">
                <a:solidFill>
                  <a:srgbClr val="EF4444"/>
                </a:solidFill>
                <a:latin typeface="Arial"/>
              </a:defRPr>
            </a:pPr>
            <a:r>
              <a:t>•  The Echo Chamber Effect: </a:t>
            </a:r>
          </a:p>
          <a:p>
            <a:pPr>
              <a:spcBef>
                <a:spcPts val="400"/>
              </a:spcBef>
              <a:defRPr sz="1400">
                <a:solidFill>
                  <a:srgbClr val="C8C8CD"/>
                </a:solidFill>
                <a:latin typeface="Arial"/>
              </a:defRPr>
            </a:pPr>
            <a:r>
              <a:t>Internal advisors, board members, and employees are often polite and hesitant to offer brutal, direct critique. This leads to groupthink and catastrophic operational blind spots that remain unaddressed until it is too late.</a:t>
            </a:r>
          </a:p>
          <a:p>
            <a:pPr>
              <a:spcBef>
                <a:spcPts val="1500"/>
              </a:spcBef>
              <a:defRPr sz="1800" b="1">
                <a:solidFill>
                  <a:srgbClr val="EF4444"/>
                </a:solidFill>
                <a:latin typeface="Arial"/>
              </a:defRPr>
            </a:pPr>
            <a:r>
              <a:t>•  Lack of Real-world Crisis Rehearsal: </a:t>
            </a:r>
          </a:p>
          <a:p>
            <a:pPr>
              <a:spcBef>
                <a:spcPts val="400"/>
              </a:spcBef>
              <a:defRPr sz="1400">
                <a:solidFill>
                  <a:srgbClr val="C8C8CD"/>
                </a:solidFill>
                <a:latin typeface="Arial"/>
              </a:defRPr>
            </a:pPr>
            <a:r>
              <a:t>Most organizations design strategies for linear, positive progression. They do not stress test their reaction or adaptability to sudden, catastrophic operational crises (such as instant competitor price drops or major vendor bankruptcies).</a:t>
            </a:r>
          </a:p>
          <a:p>
            <a:pPr>
              <a:spcBef>
                <a:spcPts val="1500"/>
              </a:spcBef>
              <a:defRPr sz="1800" b="1">
                <a:solidFill>
                  <a:srgbClr val="EF4444"/>
                </a:solidFill>
                <a:latin typeface="Arial"/>
              </a:defRPr>
            </a:pPr>
            <a:r>
              <a:t>•  The Cost of Failure: </a:t>
            </a:r>
          </a:p>
          <a:p>
            <a:pPr>
              <a:spcBef>
                <a:spcPts val="400"/>
              </a:spcBef>
              <a:defRPr sz="1400">
                <a:solidFill>
                  <a:srgbClr val="C8C8CD"/>
                </a:solidFill>
                <a:latin typeface="Arial"/>
              </a:defRPr>
            </a:pPr>
            <a:r>
              <a:t>Hiring top-tier human advisory boards or consultants to stress test concepts takes weeks and costs tens of thousands of dollars. Janus automates this barrier, acting as an instant, zero-bias digital firewall.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709"/>
        </a:solidFill>
        <a:effectLst/>
      </p:bgPr>
    </p:bg>
    <p:spTree>
      <p:nvGrpSpPr>
        <p:cNvPr id="1" name=""/>
        <p:cNvGrpSpPr/>
        <p:nvPr/>
      </p:nvGrpSpPr>
      <p:grpSpPr/>
      <p:sp>
        <p:nvSpPr>
          <p:cNvPr id="2" name="TextBox 1"/>
          <p:cNvSpPr txBox="1"/>
          <p:nvPr/>
        </p:nvSpPr>
        <p:spPr>
          <a:xfrm>
            <a:off x="914400" y="457200"/>
            <a:ext cx="10362895" cy="914400"/>
          </a:xfrm>
          <a:prstGeom prst="rect">
            <a:avLst/>
          </a:prstGeom>
          <a:noFill/>
        </p:spPr>
        <p:txBody>
          <a:bodyPr wrap="square">
            <a:spAutoFit/>
          </a:bodyPr>
          <a:lstStyle/>
          <a:p>
            <a:pPr>
              <a:defRPr sz="3800" b="1">
                <a:solidFill>
                  <a:srgbClr val="9333EA"/>
                </a:solidFill>
                <a:latin typeface="Trebuchet MS"/>
              </a:defRPr>
            </a:pPr>
            <a:r>
              <a:t>What Janus Does</a:t>
            </a:r>
          </a:p>
        </p:txBody>
      </p:sp>
      <p:sp>
        <p:nvSpPr>
          <p:cNvPr id="3" name="TextBox 2"/>
          <p:cNvSpPr txBox="1"/>
          <p:nvPr/>
        </p:nvSpPr>
        <p:spPr>
          <a:xfrm>
            <a:off x="914400" y="1463040"/>
            <a:ext cx="10362895" cy="4754880"/>
          </a:xfrm>
          <a:prstGeom prst="rect">
            <a:avLst/>
          </a:prstGeom>
          <a:noFill/>
        </p:spPr>
        <p:txBody>
          <a:bodyPr wrap="square">
            <a:spAutoFit/>
          </a:bodyPr>
          <a:lstStyle/>
          <a:p>
            <a:pPr>
              <a:defRPr sz="1800" b="1">
                <a:solidFill>
                  <a:srgbClr val="EF4444"/>
                </a:solidFill>
                <a:latin typeface="Arial"/>
              </a:defRPr>
            </a:pPr>
            <a:r>
              <a:t>•  Active Strategy Interrogation: </a:t>
            </a:r>
          </a:p>
          <a:p>
            <a:pPr>
              <a:spcBef>
                <a:spcPts val="400"/>
              </a:spcBef>
              <a:defRPr sz="1400">
                <a:solidFill>
                  <a:srgbClr val="C8C8CD"/>
                </a:solidFill>
                <a:latin typeface="Arial"/>
              </a:defRPr>
            </a:pPr>
            <a:r>
              <a:t>Janus does not build plans—it challenges them. By intake of unstructured text, markdown files, or CSV strategy payloads, it acts as an adversarial panel of specialist personas designed to poke holes in your logic.</a:t>
            </a:r>
          </a:p>
          <a:p>
            <a:pPr>
              <a:spcBef>
                <a:spcPts val="1500"/>
              </a:spcBef>
              <a:defRPr sz="1800" b="1">
                <a:solidFill>
                  <a:srgbClr val="EF4444"/>
                </a:solidFill>
                <a:latin typeface="Arial"/>
              </a:defRPr>
            </a:pPr>
            <a:r>
              <a:t>•  Hostile &amp; Unforgiving Interrogation: </a:t>
            </a:r>
          </a:p>
          <a:p>
            <a:pPr>
              <a:spcBef>
                <a:spcPts val="400"/>
              </a:spcBef>
              <a:defRPr sz="1400">
                <a:solidFill>
                  <a:srgbClr val="C8C8CD"/>
                </a:solidFill>
                <a:latin typeface="Arial"/>
              </a:defRPr>
            </a:pPr>
            <a:r>
              <a:t>Engineered with strict rules: never offer advice, validation, or encouragement. It is designed to act like a cynical board of directors that fundamentally doubts the user's strategic viability, forcing them to defend their plan with hard metrics.</a:t>
            </a:r>
          </a:p>
          <a:p>
            <a:pPr>
              <a:spcBef>
                <a:spcPts val="1500"/>
              </a:spcBef>
              <a:defRPr sz="1800" b="1">
                <a:solidFill>
                  <a:srgbClr val="EF4444"/>
                </a:solidFill>
                <a:latin typeface="Arial"/>
              </a:defRPr>
            </a:pPr>
            <a:r>
              <a:t>•  Adaptive Crisis Simulation: </a:t>
            </a:r>
          </a:p>
          <a:p>
            <a:pPr>
              <a:spcBef>
                <a:spcPts val="400"/>
              </a:spcBef>
              <a:defRPr sz="1400">
                <a:solidFill>
                  <a:srgbClr val="C8C8CD"/>
                </a:solidFill>
                <a:latin typeface="Arial"/>
              </a:defRPr>
            </a:pPr>
            <a:r>
              <a:t>After probing for multiple turns, Janus shifts state. Once the user is cornered, the system triggers a 'Reality Attack'—an immediate operational disaster (e.g. competitor IP theft, supplier failure) customized to the vulnerabilities identified in the chat history.</a:t>
            </a:r>
          </a:p>
          <a:p>
            <a:pPr>
              <a:spcBef>
                <a:spcPts val="1500"/>
              </a:spcBef>
              <a:defRPr sz="1800" b="1">
                <a:solidFill>
                  <a:srgbClr val="EF4444"/>
                </a:solidFill>
                <a:latin typeface="Arial"/>
              </a:defRPr>
            </a:pPr>
            <a:r>
              <a:t>•  Readiness Ledgers &amp; Audits: </a:t>
            </a:r>
          </a:p>
          <a:p>
            <a:pPr>
              <a:spcBef>
                <a:spcPts val="400"/>
              </a:spcBef>
              <a:defRPr sz="1400">
                <a:solidFill>
                  <a:srgbClr val="C8C8CD"/>
                </a:solidFill>
                <a:latin typeface="Arial"/>
              </a:defRPr>
            </a:pPr>
            <a:r>
              <a:t>Converts qualitative conversational defense into quantitative readiness indicators. Users receive comprehensive audit logs detailing risk profiles, weaknesses, and concrete recommendations for adjustment.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709"/>
        </a:solidFill>
        <a:effectLst/>
      </p:bgPr>
    </p:bg>
    <p:spTree>
      <p:nvGrpSpPr>
        <p:cNvPr id="1" name=""/>
        <p:cNvGrpSpPr/>
        <p:nvPr/>
      </p:nvGrpSpPr>
      <p:grpSpPr/>
      <p:sp>
        <p:nvSpPr>
          <p:cNvPr id="2" name="TextBox 1"/>
          <p:cNvSpPr txBox="1"/>
          <p:nvPr/>
        </p:nvSpPr>
        <p:spPr>
          <a:xfrm>
            <a:off x="914400" y="457200"/>
            <a:ext cx="10362895" cy="914400"/>
          </a:xfrm>
          <a:prstGeom prst="rect">
            <a:avLst/>
          </a:prstGeom>
          <a:noFill/>
        </p:spPr>
        <p:txBody>
          <a:bodyPr wrap="square">
            <a:spAutoFit/>
          </a:bodyPr>
          <a:lstStyle/>
          <a:p>
            <a:pPr>
              <a:defRPr sz="3800" b="1">
                <a:solidFill>
                  <a:srgbClr val="9333EA"/>
                </a:solidFill>
                <a:latin typeface="Trebuchet MS"/>
              </a:defRPr>
            </a:pPr>
            <a:r>
              <a:t>Crucible Platform Features</a:t>
            </a:r>
          </a:p>
        </p:txBody>
      </p:sp>
      <p:sp>
        <p:nvSpPr>
          <p:cNvPr id="3" name="Rounded Rectangle 2"/>
          <p:cNvSpPr/>
          <p:nvPr/>
        </p:nvSpPr>
        <p:spPr>
          <a:xfrm>
            <a:off x="914400" y="1463040"/>
            <a:ext cx="5029200" cy="2103120"/>
          </a:xfrm>
          <a:prstGeom prst="roundRect">
            <a:avLst/>
          </a:prstGeom>
          <a:solidFill>
            <a:srgbClr val="0E0E14"/>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800" b="1">
                <a:solidFill>
                  <a:srgbClr val="EF4444"/>
                </a:solidFill>
                <a:latin typeface="Trebuchet MS"/>
              </a:defRPr>
            </a:pPr>
            <a:r>
              <a:t>1. Live Cross-Examination</a:t>
            </a:r>
          </a:p>
          <a:p>
            <a:pPr>
              <a:spcBef>
                <a:spcPts val="800"/>
              </a:spcBef>
              <a:defRPr sz="1300">
                <a:solidFill>
                  <a:srgbClr val="C8C8CD"/>
                </a:solidFill>
                <a:latin typeface="Arial"/>
              </a:defRPr>
            </a:pPr>
            <a:r>
              <a:t>An interactive, secure terminal console designed to mimic strategic cross-examinations. Keeps track of message history, routes user defenses to active agent panels, and displays animated indicators matching the current challenger's focus.</a:t>
            </a:r>
          </a:p>
        </p:txBody>
      </p:sp>
      <p:sp>
        <p:nvSpPr>
          <p:cNvPr id="4" name="Rounded Rectangle 3"/>
          <p:cNvSpPr/>
          <p:nvPr/>
        </p:nvSpPr>
        <p:spPr>
          <a:xfrm>
            <a:off x="6217920" y="1463040"/>
            <a:ext cx="5029200" cy="2103120"/>
          </a:xfrm>
          <a:prstGeom prst="roundRect">
            <a:avLst/>
          </a:prstGeom>
          <a:solidFill>
            <a:srgbClr val="0E0E14"/>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800" b="1">
                <a:solidFill>
                  <a:srgbClr val="EF4444"/>
                </a:solidFill>
                <a:latin typeface="Trebuchet MS"/>
              </a:defRPr>
            </a:pPr>
            <a:r>
              <a:t>2. Adversarial Matrix Selection</a:t>
            </a:r>
          </a:p>
          <a:p>
            <a:pPr>
              <a:spcBef>
                <a:spcPts val="800"/>
              </a:spcBef>
              <a:defRPr sz="1300">
                <a:solidFill>
                  <a:srgbClr val="C8C8CD"/>
                </a:solidFill>
                <a:latin typeface="Arial"/>
              </a:defRPr>
            </a:pPr>
            <a:r>
              <a:t>Mount specific expert nodes (Investor: attacks numbers; Competitor: challenges moats; Customer: probes demand; Risk Analyst: highlights single points of failure; Psychologist: audits biases) or let the orchestrator auto-route dynamically.</a:t>
            </a:r>
          </a:p>
        </p:txBody>
      </p:sp>
      <p:sp>
        <p:nvSpPr>
          <p:cNvPr id="5" name="Rounded Rectangle 4"/>
          <p:cNvSpPr/>
          <p:nvPr/>
        </p:nvSpPr>
        <p:spPr>
          <a:xfrm>
            <a:off x="914400" y="3840480"/>
            <a:ext cx="5029200" cy="2103120"/>
          </a:xfrm>
          <a:prstGeom prst="roundRect">
            <a:avLst/>
          </a:prstGeom>
          <a:solidFill>
            <a:srgbClr val="0E0E14"/>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800" b="1">
                <a:solidFill>
                  <a:srgbClr val="EF4444"/>
                </a:solidFill>
                <a:latin typeface="Trebuchet MS"/>
              </a:defRPr>
            </a:pPr>
            <a:r>
              <a:t>3. Reality Attack Engine</a:t>
            </a:r>
          </a:p>
          <a:p>
            <a:pPr>
              <a:spcBef>
                <a:spcPts val="800"/>
              </a:spcBef>
              <a:defRPr sz="1300">
                <a:solidFill>
                  <a:srgbClr val="C8C8CD"/>
                </a:solidFill>
                <a:latin typeface="Arial"/>
              </a:defRPr>
            </a:pPr>
            <a:r>
              <a:t>A state machine that injects customized catastrophic operational scenarios. It halts the standard line of questioning and forces the user to choose an immediate pivot or defense strategy in response to a sudden crisis.</a:t>
            </a:r>
          </a:p>
        </p:txBody>
      </p:sp>
      <p:sp>
        <p:nvSpPr>
          <p:cNvPr id="6" name="Rounded Rectangle 5"/>
          <p:cNvSpPr/>
          <p:nvPr/>
        </p:nvSpPr>
        <p:spPr>
          <a:xfrm>
            <a:off x="6217920" y="3840480"/>
            <a:ext cx="5029200" cy="2103120"/>
          </a:xfrm>
          <a:prstGeom prst="roundRect">
            <a:avLst/>
          </a:prstGeom>
          <a:solidFill>
            <a:srgbClr val="0E0E14"/>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800" b="1">
                <a:solidFill>
                  <a:srgbClr val="EF4444"/>
                </a:solidFill>
                <a:latin typeface="Trebuchet MS"/>
              </a:defRPr>
            </a:pPr>
            <a:r>
              <a:t>4. Decision Readiness Ledger</a:t>
            </a:r>
          </a:p>
          <a:p>
            <a:pPr>
              <a:spcBef>
                <a:spcPts val="800"/>
              </a:spcBef>
              <a:defRPr sz="1300">
                <a:solidFill>
                  <a:srgbClr val="C8C8CD"/>
                </a:solidFill>
                <a:latin typeface="Arial"/>
              </a:defRPr>
            </a:pPr>
            <a:r>
              <a:t>Algorithmic grading that outputs a final Decision Readiness Score &amp; Confidence Score (0-100), structured lists of vulnerabilities, key blind spots, and specific actionable recommendations to improve the strategy.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709"/>
        </a:solidFill>
        <a:effectLst/>
      </p:bgPr>
    </p:bg>
    <p:spTree>
      <p:nvGrpSpPr>
        <p:cNvPr id="1" name=""/>
        <p:cNvGrpSpPr/>
        <p:nvPr/>
      </p:nvGrpSpPr>
      <p:grpSpPr/>
      <p:sp>
        <p:nvSpPr>
          <p:cNvPr id="2" name="TextBox 1"/>
          <p:cNvSpPr txBox="1"/>
          <p:nvPr/>
        </p:nvSpPr>
        <p:spPr>
          <a:xfrm>
            <a:off x="914400" y="457200"/>
            <a:ext cx="10362895" cy="914400"/>
          </a:xfrm>
          <a:prstGeom prst="rect">
            <a:avLst/>
          </a:prstGeom>
          <a:noFill/>
        </p:spPr>
        <p:txBody>
          <a:bodyPr wrap="square">
            <a:spAutoFit/>
          </a:bodyPr>
          <a:lstStyle/>
          <a:p>
            <a:pPr>
              <a:defRPr sz="3800" b="1">
                <a:solidFill>
                  <a:srgbClr val="9333EA"/>
                </a:solidFill>
                <a:latin typeface="Trebuchet MS"/>
              </a:defRPr>
            </a:pPr>
            <a:r>
              <a:t>Structured Multi-Agent AI Architecture</a:t>
            </a:r>
          </a:p>
        </p:txBody>
      </p:sp>
      <p:sp>
        <p:nvSpPr>
          <p:cNvPr id="3" name="TextBox 2"/>
          <p:cNvSpPr txBox="1"/>
          <p:nvPr/>
        </p:nvSpPr>
        <p:spPr>
          <a:xfrm>
            <a:off x="914400" y="1463040"/>
            <a:ext cx="10362895" cy="4754880"/>
          </a:xfrm>
          <a:prstGeom prst="rect">
            <a:avLst/>
          </a:prstGeom>
          <a:noFill/>
        </p:spPr>
        <p:txBody>
          <a:bodyPr wrap="square">
            <a:spAutoFit/>
          </a:bodyPr>
          <a:lstStyle/>
          <a:p>
            <a:pPr>
              <a:defRPr sz="1800" b="1">
                <a:solidFill>
                  <a:srgbClr val="EF4444"/>
                </a:solidFill>
                <a:latin typeface="Arial"/>
              </a:defRPr>
            </a:pPr>
            <a:r>
              <a:t>•  Behavioral Prompt Engineering &amp; Persona Tuning: </a:t>
            </a:r>
          </a:p>
          <a:p>
            <a:pPr>
              <a:spcBef>
                <a:spcPts val="300"/>
              </a:spcBef>
              <a:defRPr sz="1300">
                <a:solidFill>
                  <a:srgbClr val="C8C8CD"/>
                </a:solidFill>
                <a:latin typeface="Arial"/>
              </a:defRPr>
            </a:pPr>
            <a:r>
              <a:t>We tune specific behavioral prompts that override default LLM behaviors. Prompts contain strict negative constraints (e.g. NEVER agree, NEVER congratulate, keep replies under 3 sentences) to maintain the platform's uncompromising, brutal tone.</a:t>
            </a:r>
          </a:p>
          <a:p>
            <a:pPr>
              <a:spcBef>
                <a:spcPts val="1200"/>
              </a:spcBef>
              <a:defRPr sz="1800" b="1">
                <a:solidFill>
                  <a:srgbClr val="EF4444"/>
                </a:solidFill>
                <a:latin typeface="Arial"/>
              </a:defRPr>
            </a:pPr>
            <a:r>
              <a:t>•  Strict JSON Response Schemas: </a:t>
            </a:r>
          </a:p>
          <a:p>
            <a:pPr>
              <a:spcBef>
                <a:spcPts val="300"/>
              </a:spcBef>
              <a:defRPr sz="1300">
                <a:solidFill>
                  <a:srgbClr val="C8C8CD"/>
                </a:solidFill>
                <a:latin typeface="Arial"/>
              </a:defRPr>
            </a:pPr>
            <a:r>
              <a:t>Leverages native JSON response modes through the Google GenAI SDK. This guarantees that model responses map exactly to schema objects, including structured routing, persona declarations, and message types.</a:t>
            </a:r>
          </a:p>
          <a:p>
            <a:pPr>
              <a:spcBef>
                <a:spcPts val="1200"/>
              </a:spcBef>
              <a:defRPr sz="1800" b="1">
                <a:solidFill>
                  <a:srgbClr val="EF4444"/>
                </a:solidFill>
                <a:latin typeface="Arial"/>
              </a:defRPr>
            </a:pPr>
            <a:r>
              <a:t>•  Dynamic Orchestration &amp; State Tracking: </a:t>
            </a:r>
          </a:p>
          <a:p>
            <a:pPr>
              <a:spcBef>
                <a:spcPts val="300"/>
              </a:spcBef>
              <a:defRPr sz="1300">
                <a:solidFill>
                  <a:srgbClr val="C8C8CD"/>
                </a:solidFill>
                <a:latin typeface="Arial"/>
              </a:defRPr>
            </a:pPr>
            <a:r>
              <a:t>The orchestrator checks previous message sequences, extracts user contradictions, and routes turns to underutilized expert nodes. It tracks conversational depth to decide when to transition from questioning to the Reality Attack phase.</a:t>
            </a:r>
          </a:p>
          <a:p>
            <a:pPr>
              <a:spcBef>
                <a:spcPts val="1200"/>
              </a:spcBef>
              <a:defRPr sz="1800" b="1">
                <a:solidFill>
                  <a:srgbClr val="EF4444"/>
                </a:solidFill>
                <a:latin typeface="Arial"/>
              </a:defRPr>
            </a:pPr>
            <a:r>
              <a:t>•  Model Infrastructure: </a:t>
            </a:r>
          </a:p>
          <a:p>
            <a:pPr>
              <a:spcBef>
                <a:spcPts val="300"/>
              </a:spcBef>
              <a:defRPr sz="1300">
                <a:solidFill>
                  <a:srgbClr val="C8C8CD"/>
                </a:solidFill>
                <a:latin typeface="Arial"/>
              </a:defRPr>
            </a:pPr>
            <a:r>
              <a:t>Runs gemini-2.5-flash with customized system instructions. This ensures extremely fast responses (sub-second generation) and lower token latency, maintaining a responsive, flowing terminal experience.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709"/>
        </a:solidFill>
        <a:effectLst/>
      </p:bgPr>
    </p:bg>
    <p:spTree>
      <p:nvGrpSpPr>
        <p:cNvPr id="1" name=""/>
        <p:cNvGrpSpPr/>
        <p:nvPr/>
      </p:nvGrpSpPr>
      <p:grpSpPr/>
      <p:sp>
        <p:nvSpPr>
          <p:cNvPr id="2" name="TextBox 1"/>
          <p:cNvSpPr txBox="1"/>
          <p:nvPr/>
        </p:nvSpPr>
        <p:spPr>
          <a:xfrm>
            <a:off x="914400" y="457200"/>
            <a:ext cx="10362895" cy="914400"/>
          </a:xfrm>
          <a:prstGeom prst="rect">
            <a:avLst/>
          </a:prstGeom>
          <a:noFill/>
        </p:spPr>
        <p:txBody>
          <a:bodyPr wrap="square">
            <a:spAutoFit/>
          </a:bodyPr>
          <a:lstStyle/>
          <a:p>
            <a:pPr>
              <a:defRPr sz="3800" b="1">
                <a:solidFill>
                  <a:srgbClr val="9333EA"/>
                </a:solidFill>
                <a:latin typeface="Trebuchet MS"/>
              </a:defRPr>
            </a:pPr>
            <a:r>
              <a:t>Modern Full-Stack Technology Stack</a:t>
            </a:r>
          </a:p>
        </p:txBody>
      </p:sp>
      <p:graphicFrame>
        <p:nvGraphicFramePr>
          <p:cNvPr id="3" name="Table 2"/>
          <p:cNvGraphicFramePr>
            <a:graphicFrameLocks noGrp="1"/>
          </p:cNvGraphicFramePr>
          <p:nvPr/>
        </p:nvGraphicFramePr>
        <p:xfrm>
          <a:off x="914400" y="1463040"/>
          <a:ext cx="10362895" cy="4389120"/>
        </p:xfrm>
        <a:graphic>
          <a:graphicData uri="http://schemas.openxmlformats.org/drawingml/2006/table">
            <a:tbl>
              <a:tblPr firstRow="1" bandRow="1">
                <a:tableStyleId>{5C22544A-7EE6-4342-B048-85BDC9FD1C3A}</a:tableStyleId>
              </a:tblPr>
              <a:tblGrid>
                <a:gridCol w="2743200"/>
                <a:gridCol w="3200400"/>
                <a:gridCol w="4419295"/>
              </a:tblGrid>
              <a:tr h="877824">
                <a:tc>
                  <a:txBody>
                    <a:bodyPr/>
                    <a:lstStyle/>
                    <a:p>
                      <a:pPr algn="ctr">
                        <a:defRPr sz="1600" b="1">
                          <a:solidFill>
                            <a:srgbClr val="FFFFFF"/>
                          </a:solidFill>
                          <a:latin typeface="Trebuchet MS"/>
                        </a:defRPr>
                      </a:pPr>
                      <a:r>
                        <a:t>Layer</a:t>
                      </a:r>
                    </a:p>
                  </a:txBody>
                  <a:tcPr>
                    <a:solidFill>
                      <a:srgbClr val="9333EA"/>
                    </a:solidFill>
                  </a:tcPr>
                </a:tc>
                <a:tc>
                  <a:txBody>
                    <a:bodyPr/>
                    <a:lstStyle/>
                    <a:p>
                      <a:pPr algn="ctr">
                        <a:defRPr sz="1600" b="1">
                          <a:solidFill>
                            <a:srgbClr val="FFFFFF"/>
                          </a:solidFill>
                          <a:latin typeface="Trebuchet MS"/>
                        </a:defRPr>
                      </a:pPr>
                      <a:r>
                        <a:t>Component / Tool</a:t>
                      </a:r>
                    </a:p>
                  </a:txBody>
                  <a:tcPr>
                    <a:solidFill>
                      <a:srgbClr val="9333EA"/>
                    </a:solidFill>
                  </a:tcPr>
                </a:tc>
                <a:tc>
                  <a:txBody>
                    <a:bodyPr/>
                    <a:lstStyle/>
                    <a:p>
                      <a:pPr algn="ctr">
                        <a:defRPr sz="1600" b="1">
                          <a:solidFill>
                            <a:srgbClr val="FFFFFF"/>
                          </a:solidFill>
                          <a:latin typeface="Trebuchet MS"/>
                        </a:defRPr>
                      </a:pPr>
                      <a:r>
                        <a:t>Purpose &amp; Technical Role</a:t>
                      </a:r>
                    </a:p>
                  </a:txBody>
                  <a:tcPr>
                    <a:solidFill>
                      <a:srgbClr val="9333EA"/>
                    </a:solidFill>
                  </a:tcPr>
                </a:tc>
              </a:tr>
              <a:tr h="877824">
                <a:tc>
                  <a:txBody>
                    <a:bodyPr/>
                    <a:lstStyle/>
                    <a:p>
                      <a:pPr algn="l">
                        <a:defRPr sz="1300">
                          <a:solidFill>
                            <a:srgbClr val="C8C8CD"/>
                          </a:solidFill>
                          <a:latin typeface="Arial"/>
                        </a:defRPr>
                      </a:pPr>
                      <a:r>
                        <a:t>Core Application Framework</a:t>
                      </a:r>
                    </a:p>
                  </a:txBody>
                  <a:tcPr>
                    <a:solidFill>
                      <a:srgbClr val="0E0E14"/>
                    </a:solidFill>
                  </a:tcPr>
                </a:tc>
                <a:tc>
                  <a:txBody>
                    <a:bodyPr/>
                    <a:lstStyle/>
                    <a:p>
                      <a:pPr algn="l">
                        <a:defRPr sz="1300" b="1">
                          <a:solidFill>
                            <a:srgbClr val="FFFFFF"/>
                          </a:solidFill>
                          <a:latin typeface="Arial"/>
                        </a:defRPr>
                      </a:pPr>
                      <a:r>
                        <a:t>Next.js 15.4.4 &amp; React 19</a:t>
                      </a:r>
                    </a:p>
                  </a:txBody>
                  <a:tcPr>
                    <a:solidFill>
                      <a:srgbClr val="0E0E14"/>
                    </a:solidFill>
                  </a:tcPr>
                </a:tc>
                <a:tc>
                  <a:txBody>
                    <a:bodyPr/>
                    <a:lstStyle/>
                    <a:p>
                      <a:pPr algn="l">
                        <a:defRPr sz="1300">
                          <a:solidFill>
                            <a:srgbClr val="C8C8CD"/>
                          </a:solidFill>
                          <a:latin typeface="Arial"/>
                        </a:defRPr>
                      </a:pPr>
                      <a:r>
                        <a:t>Handles full-stack routing, Server-side API endpoints, and clean client-side state hooks for interactive chat sessions.</a:t>
                      </a:r>
                    </a:p>
                  </a:txBody>
                  <a:tcPr>
                    <a:solidFill>
                      <a:srgbClr val="0E0E14"/>
                    </a:solidFill>
                  </a:tcPr>
                </a:tc>
              </a:tr>
              <a:tr h="877824">
                <a:tc>
                  <a:txBody>
                    <a:bodyPr/>
                    <a:lstStyle/>
                    <a:p>
                      <a:pPr algn="l">
                        <a:defRPr sz="1300">
                          <a:solidFill>
                            <a:srgbClr val="C8C8CD"/>
                          </a:solidFill>
                          <a:latin typeface="Arial"/>
                        </a:defRPr>
                      </a:pPr>
                      <a:r>
                        <a:t>Generative AI Engine</a:t>
                      </a:r>
                    </a:p>
                  </a:txBody>
                  <a:tcPr>
                    <a:solidFill>
                      <a:srgbClr val="0E0E14"/>
                    </a:solidFill>
                  </a:tcPr>
                </a:tc>
                <a:tc>
                  <a:txBody>
                    <a:bodyPr/>
                    <a:lstStyle/>
                    <a:p>
                      <a:pPr algn="l">
                        <a:defRPr sz="1300" b="1">
                          <a:solidFill>
                            <a:srgbClr val="FFFFFF"/>
                          </a:solidFill>
                          <a:latin typeface="Arial"/>
                        </a:defRPr>
                      </a:pPr>
                      <a:r>
                        <a:t>Google GenAI SDK (gemini-2.5-flash)</a:t>
                      </a:r>
                    </a:p>
                  </a:txBody>
                  <a:tcPr>
                    <a:solidFill>
                      <a:srgbClr val="0E0E14"/>
                    </a:solidFill>
                  </a:tcPr>
                </a:tc>
                <a:tc>
                  <a:txBody>
                    <a:bodyPr/>
                    <a:lstStyle/>
                    <a:p>
                      <a:pPr algn="l">
                        <a:defRPr sz="1300">
                          <a:solidFill>
                            <a:srgbClr val="C8C8CD"/>
                          </a:solidFill>
                          <a:latin typeface="Arial"/>
                        </a:defRPr>
                      </a:pPr>
                      <a:r>
                        <a:t>Powers the structured JSON interrogation panel &amp; readiness score generation. Enforces output formats using MIME schema rules.</a:t>
                      </a:r>
                    </a:p>
                  </a:txBody>
                  <a:tcPr>
                    <a:solidFill>
                      <a:srgbClr val="0E0E14"/>
                    </a:solidFill>
                  </a:tcPr>
                </a:tc>
              </a:tr>
              <a:tr h="877824">
                <a:tc>
                  <a:txBody>
                    <a:bodyPr/>
                    <a:lstStyle/>
                    <a:p>
                      <a:pPr algn="l">
                        <a:defRPr sz="1300">
                          <a:solidFill>
                            <a:srgbClr val="C8C8CD"/>
                          </a:solidFill>
                          <a:latin typeface="Arial"/>
                        </a:defRPr>
                      </a:pPr>
                      <a:r>
                        <a:t>Database &amp; Persistence</a:t>
                      </a:r>
                    </a:p>
                  </a:txBody>
                  <a:tcPr>
                    <a:solidFill>
                      <a:srgbClr val="0E0E14"/>
                    </a:solidFill>
                  </a:tcPr>
                </a:tc>
                <a:tc>
                  <a:txBody>
                    <a:bodyPr/>
                    <a:lstStyle/>
                    <a:p>
                      <a:pPr algn="l">
                        <a:defRPr sz="1300" b="1">
                          <a:solidFill>
                            <a:srgbClr val="FFFFFF"/>
                          </a:solidFill>
                          <a:latin typeface="Arial"/>
                        </a:defRPr>
                      </a:pPr>
                      <a:r>
                        <a:t>Prisma ORM &amp; SQLite (better-sqlite3)</a:t>
                      </a:r>
                    </a:p>
                  </a:txBody>
                  <a:tcPr>
                    <a:solidFill>
                      <a:srgbClr val="0E0E14"/>
                    </a:solidFill>
                  </a:tcPr>
                </a:tc>
                <a:tc>
                  <a:txBody>
                    <a:bodyPr/>
                    <a:lstStyle/>
                    <a:p>
                      <a:pPr algn="l">
                        <a:defRPr sz="1300">
                          <a:solidFill>
                            <a:srgbClr val="C8C8CD"/>
                          </a:solidFill>
                          <a:latin typeface="Arial"/>
                        </a:defRPr>
                      </a:pPr>
                      <a:r>
                        <a:t>Mantains local history logs for Decisions, message transcripts, and compiled readiness audit reports with zero external infra dependencies.</a:t>
                      </a:r>
                    </a:p>
                  </a:txBody>
                  <a:tcPr>
                    <a:solidFill>
                      <a:srgbClr val="0E0E14"/>
                    </a:solidFill>
                  </a:tcPr>
                </a:tc>
              </a:tr>
              <a:tr h="877824">
                <a:tc>
                  <a:txBody>
                    <a:bodyPr/>
                    <a:lstStyle/>
                    <a:p>
                      <a:pPr algn="l">
                        <a:defRPr sz="1300">
                          <a:solidFill>
                            <a:srgbClr val="C8C8CD"/>
                          </a:solidFill>
                          <a:latin typeface="Arial"/>
                        </a:defRPr>
                      </a:pPr>
                      <a:r>
                        <a:t>User Interface &amp; Theme</a:t>
                      </a:r>
                    </a:p>
                  </a:txBody>
                  <a:tcPr>
                    <a:solidFill>
                      <a:srgbClr val="0E0E14"/>
                    </a:solidFill>
                  </a:tcPr>
                </a:tc>
                <a:tc>
                  <a:txBody>
                    <a:bodyPr/>
                    <a:lstStyle/>
                    <a:p>
                      <a:pPr algn="l">
                        <a:defRPr sz="1300" b="1">
                          <a:solidFill>
                            <a:srgbClr val="FFFFFF"/>
                          </a:solidFill>
                          <a:latin typeface="Arial"/>
                        </a:defRPr>
                      </a:pPr>
                      <a:r>
                        <a:t>Tailwind CSS v4 &amp; Lucide Icons</a:t>
                      </a:r>
                    </a:p>
                  </a:txBody>
                  <a:tcPr>
                    <a:solidFill>
                      <a:srgbClr val="0E0E14"/>
                    </a:solidFill>
                  </a:tcPr>
                </a:tc>
                <a:tc>
                  <a:txBody>
                    <a:bodyPr/>
                    <a:lstStyle/>
                    <a:p>
                      <a:pPr algn="l">
                        <a:defRPr sz="1300">
                          <a:solidFill>
                            <a:srgbClr val="C8C8CD"/>
                          </a:solidFill>
                          <a:latin typeface="Arial"/>
                        </a:defRPr>
                      </a:pPr>
                      <a:r>
                        <a:t>Renders a dark-themed cyber grid interface utilizing custom glassmorphism components, responsive scaling, and state-driven animations.</a:t>
                      </a:r>
                    </a:p>
                  </a:txBody>
                  <a:tcPr>
                    <a:solidFill>
                      <a:srgbClr val="0E0E14"/>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709"/>
        </a:solidFill>
        <a:effectLst/>
      </p:bgPr>
    </p:bg>
    <p:spTree>
      <p:nvGrpSpPr>
        <p:cNvPr id="1" name=""/>
        <p:cNvGrpSpPr/>
        <p:nvPr/>
      </p:nvGrpSpPr>
      <p:grpSpPr/>
      <p:sp>
        <p:nvSpPr>
          <p:cNvPr id="2" name="TextBox 1"/>
          <p:cNvSpPr txBox="1"/>
          <p:nvPr/>
        </p:nvSpPr>
        <p:spPr>
          <a:xfrm>
            <a:off x="914400" y="2011680"/>
            <a:ext cx="10362895" cy="3200400"/>
          </a:xfrm>
          <a:prstGeom prst="rect">
            <a:avLst/>
          </a:prstGeom>
          <a:noFill/>
        </p:spPr>
        <p:txBody>
          <a:bodyPr wrap="square">
            <a:spAutoFit/>
          </a:bodyPr>
          <a:lstStyle/>
          <a:p>
            <a:pPr algn="ctr">
              <a:defRPr sz="6400" b="1">
                <a:solidFill>
                  <a:srgbClr val="EF4444"/>
                </a:solidFill>
                <a:latin typeface="Trebuchet MS"/>
              </a:defRPr>
            </a:pPr>
            <a:r>
              <a:t>THANK YOU</a:t>
            </a:r>
          </a:p>
          <a:p>
            <a:pPr algn="ctr">
              <a:spcBef>
                <a:spcPts val="2000"/>
              </a:spcBef>
              <a:defRPr sz="2200" b="1">
                <a:solidFill>
                  <a:srgbClr val="FFFFFF"/>
                </a:solidFill>
                <a:latin typeface="Arial"/>
              </a:defRPr>
            </a:pPr>
            <a:r>
              <a:t>Stress Test Your Own Decisions Today</a:t>
            </a:r>
          </a:p>
          <a:p>
            <a:pPr algn="ctr">
              <a:spcBef>
                <a:spcPts val="1500"/>
              </a:spcBef>
              <a:defRPr sz="1800">
                <a:solidFill>
                  <a:srgbClr val="9333EA"/>
                </a:solidFill>
                <a:latin typeface="Consolas"/>
              </a:defRPr>
            </a:pPr>
            <a:r>
              <a:t>Local Portal: http://localhost:3000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